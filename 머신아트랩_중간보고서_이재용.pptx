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64592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966960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EA5E9"/>
                </a:solidFill>
                <a:latin typeface="Malgun Gothic"/>
              </a:defRPr>
            </a:pPr>
            <a:r>
              <a:rPr dirty="0"/>
              <a:t>MACHINE ART LAB </a:t>
            </a:r>
          </a:p>
          <a:p>
            <a:pPr>
              <a:spcAft>
                <a:spcPts val="1400"/>
              </a:spcAft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머신아트랩</a:t>
            </a:r>
            <a:r>
              <a:rPr dirty="0"/>
              <a:t> </a:t>
            </a:r>
            <a:r>
              <a:rPr lang="ko-KR" altLang="en-US" dirty="0"/>
              <a:t>중간보고</a:t>
            </a:r>
            <a:endParaRPr dirty="0"/>
          </a:p>
          <a:p>
            <a:pPr>
              <a:spcAft>
                <a:spcPts val="2200"/>
              </a:spcAft>
              <a:defRPr sz="2200" b="1">
                <a:solidFill>
                  <a:srgbClr val="E2E8F0"/>
                </a:solidFill>
                <a:latin typeface="Malgun Gothic"/>
              </a:defRPr>
            </a:pPr>
            <a:r>
              <a:rPr dirty="0" err="1"/>
              <a:t>컨트롤러</a:t>
            </a:r>
            <a:r>
              <a:rPr dirty="0"/>
              <a:t> </a:t>
            </a:r>
            <a:r>
              <a:rPr dirty="0" err="1"/>
              <a:t>케이스</a:t>
            </a:r>
            <a:r>
              <a:rPr dirty="0"/>
              <a:t>  |  </a:t>
            </a:r>
            <a:r>
              <a:rPr dirty="0" err="1"/>
              <a:t>사이보그</a:t>
            </a:r>
            <a:r>
              <a:rPr dirty="0"/>
              <a:t> </a:t>
            </a:r>
            <a:r>
              <a:rPr dirty="0" err="1"/>
              <a:t>볼트</a:t>
            </a:r>
            <a:r>
              <a:rPr dirty="0"/>
              <a:t> </a:t>
            </a:r>
            <a:r>
              <a:rPr dirty="0" err="1"/>
              <a:t>도장</a:t>
            </a:r>
            <a:r>
              <a:rPr dirty="0"/>
              <a:t>  |  10채널 </a:t>
            </a:r>
            <a:r>
              <a:rPr dirty="0" err="1"/>
              <a:t>핸드</a:t>
            </a:r>
            <a:r>
              <a:rPr dirty="0"/>
              <a:t> 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회로</a:t>
            </a:r>
            <a:endParaRPr dirty="0"/>
          </a:p>
          <a:p>
            <a:pPr>
              <a:defRPr sz="17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이재</a:t>
            </a:r>
            <a:r>
              <a:rPr lang="ko-KR" altLang="en-US" dirty="0"/>
              <a:t>용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CORE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3대 핵심 하드웨어 및 제어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기구설계</a:t>
            </a:r>
            <a:r>
              <a:rPr dirty="0"/>
              <a:t>, 3D </a:t>
            </a:r>
            <a:r>
              <a:rPr dirty="0" err="1"/>
              <a:t>모델링</a:t>
            </a:r>
            <a:r>
              <a:rPr dirty="0"/>
              <a:t> 및 10채널 </a:t>
            </a:r>
            <a:r>
              <a:rPr dirty="0" err="1"/>
              <a:t>로봇</a:t>
            </a:r>
            <a:r>
              <a:rPr dirty="0"/>
              <a:t> </a:t>
            </a:r>
            <a:r>
              <a:rPr dirty="0" err="1"/>
              <a:t>핸드</a:t>
            </a:r>
            <a:r>
              <a:rPr dirty="0"/>
              <a:t> </a:t>
            </a:r>
            <a:r>
              <a:rPr dirty="0" err="1"/>
              <a:t>펌웨어</a:t>
            </a:r>
            <a:r>
              <a:rPr dirty="0"/>
              <a:t>/</a:t>
            </a:r>
            <a:r>
              <a:rPr dirty="0" err="1"/>
              <a:t>회로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요약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TRACK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10키 버튼 케이스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108960"/>
            <a:ext cx="2971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2971800" cy="2015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30mm </a:t>
            </a:r>
            <a:r>
              <a:rPr dirty="0" err="1"/>
              <a:t>버튼</a:t>
            </a:r>
            <a:r>
              <a:rPr dirty="0"/>
              <a:t> 10구 </a:t>
            </a:r>
            <a:r>
              <a:rPr dirty="0" err="1"/>
              <a:t>실측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lang="en-US" dirty="0" err="1"/>
              <a:t>freecad</a:t>
            </a:r>
            <a:r>
              <a:rPr lang="en-US" dirty="0"/>
              <a:t> </a:t>
            </a:r>
            <a:r>
              <a:rPr dirty="0" err="1"/>
              <a:t>파라메트릭</a:t>
            </a:r>
            <a:r>
              <a:rPr dirty="0"/>
              <a:t> CAD </a:t>
            </a:r>
            <a:r>
              <a:rPr dirty="0" err="1"/>
              <a:t>모델링</a:t>
            </a:r>
            <a:endParaRPr dirty="0"/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판금</a:t>
            </a:r>
            <a:r>
              <a:rPr dirty="0"/>
              <a:t>(</a:t>
            </a:r>
            <a:r>
              <a:rPr dirty="0" err="1"/>
              <a:t>SheetMetal</a:t>
            </a:r>
            <a:r>
              <a:rPr dirty="0"/>
              <a:t>) </a:t>
            </a:r>
            <a:r>
              <a:rPr dirty="0" err="1"/>
              <a:t>절곡</a:t>
            </a:r>
            <a:r>
              <a:rPr dirty="0"/>
              <a:t> </a:t>
            </a:r>
            <a:r>
              <a:rPr dirty="0" err="1"/>
              <a:t>전개도</a:t>
            </a:r>
            <a:r>
              <a:rPr dirty="0"/>
              <a:t>(DXF)</a:t>
            </a:r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79976" y="173736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659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Malgun Gothic"/>
              </a:defRPr>
            </a:pPr>
            <a:r>
              <a:t>TRACK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사이보그 볼트 도장 디자인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3108960"/>
            <a:ext cx="2971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3273552"/>
            <a:ext cx="2971800" cy="22621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볼트</a:t>
            </a:r>
            <a:r>
              <a:rPr dirty="0"/>
              <a:t> </a:t>
            </a:r>
            <a:r>
              <a:rPr dirty="0" err="1"/>
              <a:t>헤드</a:t>
            </a:r>
            <a:r>
              <a:rPr dirty="0"/>
              <a:t> + </a:t>
            </a:r>
            <a:r>
              <a:rPr dirty="0" err="1"/>
              <a:t>사이보그</a:t>
            </a:r>
            <a:r>
              <a:rPr dirty="0"/>
              <a:t> </a:t>
            </a:r>
            <a:r>
              <a:rPr dirty="0" err="1"/>
              <a:t>아트</a:t>
            </a:r>
            <a:r>
              <a:rPr dirty="0"/>
              <a:t> </a:t>
            </a:r>
            <a:r>
              <a:rPr dirty="0" err="1"/>
              <a:t>융합</a:t>
            </a:r>
            <a:endParaRPr dirty="0"/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D30mm &amp; D40mm (v13) </a:t>
            </a:r>
            <a:r>
              <a:rPr dirty="0" err="1"/>
              <a:t>규격화</a:t>
            </a:r>
            <a:endParaRPr dirty="0"/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일체형</a:t>
            </a:r>
            <a:r>
              <a:rPr dirty="0"/>
              <a:t> </a:t>
            </a:r>
            <a:r>
              <a:rPr dirty="0" err="1"/>
              <a:t>키링</a:t>
            </a:r>
            <a:r>
              <a:rPr dirty="0"/>
              <a:t> </a:t>
            </a:r>
            <a:r>
              <a:rPr dirty="0" err="1"/>
              <a:t>고리설계</a:t>
            </a:r>
            <a:endParaRPr dirty="0"/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0.2mm </a:t>
            </a:r>
            <a:r>
              <a:rPr dirty="0" err="1"/>
              <a:t>노즐</a:t>
            </a:r>
            <a:r>
              <a:rPr dirty="0"/>
              <a:t> </a:t>
            </a:r>
            <a:r>
              <a:rPr dirty="0" err="1"/>
              <a:t>특화</a:t>
            </a:r>
            <a:r>
              <a:rPr dirty="0"/>
              <a:t>: </a:t>
            </a:r>
            <a:r>
              <a:rPr dirty="0" err="1"/>
              <a:t>최소선폭</a:t>
            </a:r>
            <a:r>
              <a:rPr dirty="0"/>
              <a:t> </a:t>
            </a:r>
            <a:r>
              <a:rPr dirty="0" err="1"/>
              <a:t>보강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8028432" y="173736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96596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Malgun Gothic"/>
              </a:defRPr>
            </a:pPr>
            <a:r>
              <a:t>TRACK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10채널 핸드 제어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108960"/>
            <a:ext cx="297180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3273552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• button_10_servos.ino 기반 1:1 제어</a:t>
            </a:r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t>• 10개 버튼 내부 풀업 직결 배선</a:t>
            </a:r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t>• 논블로킹 부드러운 각도 스무딩</a:t>
            </a:r>
          </a:p>
          <a:p>
            <a:pPr>
              <a:spcAft>
                <a:spcPts val="1400"/>
              </a:spcAft>
              <a:defRPr sz="1600" b="0">
                <a:solidFill>
                  <a:srgbClr val="1E293B"/>
                </a:solidFill>
                <a:latin typeface="Malgun Gothic"/>
              </a:defRPr>
            </a:pPr>
            <a:r>
              <a:t>• D12 릴레이 &amp; 5V 대전류 독립 전원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TRACK 01 : CONTROLLER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10키 버튼 컨트롤러 케이스 (Fusion 360 CAD)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30mm 규격 버튼 실측 스펙을 반영한 고정밀 인체공학 인클로저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t>■ 30mm 규격 버튼 실측 정밀 반영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t>외경 33.5mm, 장착부 29.5mm 기준 0.2mm 조립 공차를 포함한 30.2mm 홀 정밀 가공</a:t>
            </a:r>
          </a:p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t>■ 360 × 200 × 38 mm 와이드 바디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t>양손 10손가락 조작 시 손목 피로를 최소화하는 55mm 팜레스트(Wrist Rest) 영역 확보</a:t>
            </a:r>
          </a:p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t>■ 스냅인 래치 최적 패널 두께 3.0mm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t>버튼 흔들림 없는 완벽한 스냅 결합 및 하부 배선 수납 공간(깊이 38mm) 충분히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5937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usion_render_sanwa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383" y="1810512"/>
            <a:ext cx="2426208" cy="1819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3952" y="3721608"/>
            <a:ext cx="491307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Fusion 360 3D 렌더링 (360×200×38mm)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60520"/>
            <a:ext cx="505937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usion_render_sanwa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343" y="4233672"/>
            <a:ext cx="2304288" cy="1728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6053328"/>
            <a:ext cx="491307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Top View (30mm 10구 버튼 배열 &amp; 팜레스트)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TRACK 01 : SHEET METAL &amp; 3D PRINTING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판금(SheetMetal) 절곡 도면 및 제작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FreeCAD 기반 상·하판 판금 절곡 설계, 2D Flat Pattern DXF 전개도 및 조립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상판</a:t>
            </a:r>
            <a:r>
              <a:rPr dirty="0"/>
              <a:t>(</a:t>
            </a:r>
            <a:r>
              <a:rPr dirty="0" err="1"/>
              <a:t>TopCover</a:t>
            </a:r>
            <a:r>
              <a:rPr dirty="0"/>
              <a:t>) &amp; </a:t>
            </a:r>
            <a:r>
              <a:rPr dirty="0" err="1"/>
              <a:t>하판</a:t>
            </a:r>
            <a:r>
              <a:rPr dirty="0"/>
              <a:t>(</a:t>
            </a:r>
            <a:r>
              <a:rPr dirty="0" err="1"/>
              <a:t>BottomBase</a:t>
            </a:r>
            <a:r>
              <a:rPr dirty="0"/>
              <a:t>) 2피스 </a:t>
            </a:r>
            <a:r>
              <a:rPr dirty="0" err="1"/>
              <a:t>구조</a:t>
            </a:r>
            <a:endParaRPr dirty="0"/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및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기판</a:t>
            </a:r>
            <a:r>
              <a:rPr dirty="0"/>
              <a:t> </a:t>
            </a:r>
            <a:r>
              <a:rPr dirty="0" err="1"/>
              <a:t>유지보수가</a:t>
            </a:r>
            <a:r>
              <a:rPr dirty="0"/>
              <a:t> </a:t>
            </a:r>
            <a:r>
              <a:rPr dirty="0" err="1"/>
              <a:t>용이하도록</a:t>
            </a:r>
            <a:r>
              <a:rPr dirty="0"/>
              <a:t>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 </a:t>
            </a:r>
            <a:r>
              <a:rPr dirty="0" err="1"/>
              <a:t>패널과</a:t>
            </a:r>
            <a:r>
              <a:rPr dirty="0"/>
              <a:t> 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분리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■ 1.0mm </a:t>
            </a:r>
            <a:r>
              <a:rPr dirty="0" err="1"/>
              <a:t>판금</a:t>
            </a:r>
            <a:r>
              <a:rPr dirty="0"/>
              <a:t> </a:t>
            </a:r>
            <a:r>
              <a:rPr dirty="0" err="1"/>
              <a:t>절곡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적용</a:t>
            </a:r>
            <a:endParaRPr dirty="0"/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소재</a:t>
            </a:r>
            <a:r>
              <a:rPr dirty="0"/>
              <a:t> </a:t>
            </a:r>
            <a:r>
              <a:rPr dirty="0" err="1"/>
              <a:t>두께</a:t>
            </a:r>
            <a:r>
              <a:rPr dirty="0"/>
              <a:t> 1.0mm, K-Factor 0.44를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반영하여</a:t>
            </a:r>
            <a:r>
              <a:rPr dirty="0"/>
              <a:t> </a:t>
            </a:r>
            <a:r>
              <a:rPr dirty="0" err="1"/>
              <a:t>절곡</a:t>
            </a:r>
            <a:r>
              <a:rPr dirty="0"/>
              <a:t> 후 </a:t>
            </a:r>
            <a:r>
              <a:rPr dirty="0" err="1"/>
              <a:t>오차</a:t>
            </a:r>
            <a:r>
              <a:rPr dirty="0"/>
              <a:t> </a:t>
            </a:r>
            <a:r>
              <a:rPr dirty="0" err="1"/>
              <a:t>제로화</a:t>
            </a:r>
            <a:r>
              <a:rPr dirty="0"/>
              <a:t> 및 2D DXF </a:t>
            </a:r>
            <a:r>
              <a:rPr dirty="0" err="1"/>
              <a:t>도면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  <a:p>
            <a:pPr>
              <a:spcAft>
                <a:spcPts val="400"/>
              </a:spcAft>
              <a:defRPr sz="19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■ 3D </a:t>
            </a:r>
            <a:r>
              <a:rPr dirty="0" err="1"/>
              <a:t>프린팅</a:t>
            </a:r>
            <a:r>
              <a:rPr dirty="0"/>
              <a:t> </a:t>
            </a:r>
            <a:r>
              <a:rPr dirty="0" err="1"/>
              <a:t>보강</a:t>
            </a:r>
            <a:r>
              <a:rPr dirty="0"/>
              <a:t> </a:t>
            </a:r>
            <a:r>
              <a:rPr dirty="0" err="1"/>
              <a:t>리브</a:t>
            </a:r>
            <a:r>
              <a:rPr dirty="0"/>
              <a:t> &amp; </a:t>
            </a:r>
            <a:r>
              <a:rPr dirty="0" err="1"/>
              <a:t>체결</a:t>
            </a:r>
            <a:r>
              <a:rPr dirty="0"/>
              <a:t> </a:t>
            </a:r>
            <a:r>
              <a:rPr dirty="0" err="1"/>
              <a:t>보스</a:t>
            </a:r>
            <a:r>
              <a:rPr dirty="0"/>
              <a:t>(Boss)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판금</a:t>
            </a:r>
            <a:r>
              <a:rPr dirty="0"/>
              <a:t> </a:t>
            </a:r>
            <a:r>
              <a:rPr dirty="0" err="1"/>
              <a:t>외에도</a:t>
            </a:r>
            <a:r>
              <a:rPr dirty="0"/>
              <a:t> FDM 3D </a:t>
            </a:r>
            <a:r>
              <a:rPr dirty="0" err="1"/>
              <a:t>프린터로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출력할</a:t>
            </a:r>
            <a:r>
              <a:rPr dirty="0"/>
              <a:t> 수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스크루</a:t>
            </a:r>
            <a:r>
              <a:rPr dirty="0"/>
              <a:t> </a:t>
            </a:r>
            <a:r>
              <a:rPr dirty="0" err="1"/>
              <a:t>결합용</a:t>
            </a:r>
            <a:r>
              <a:rPr dirty="0"/>
              <a:t> </a:t>
            </a:r>
            <a:r>
              <a:rPr dirty="0" err="1"/>
              <a:t>보강</a:t>
            </a:r>
            <a:r>
              <a:rPr dirty="0"/>
              <a:t> </a:t>
            </a:r>
            <a:r>
              <a:rPr dirty="0" err="1"/>
              <a:t>기둥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병행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400800" y="1737359"/>
            <a:ext cx="5059375" cy="46634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heetMetal_3D_Isometric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745" y="2627910"/>
            <a:ext cx="4102773" cy="23372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6035040"/>
            <a:ext cx="491307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FreeCAD</a:t>
            </a:r>
            <a:r>
              <a:rPr dirty="0"/>
              <a:t> </a:t>
            </a:r>
            <a:r>
              <a:rPr dirty="0" err="1"/>
              <a:t>SheetMetal</a:t>
            </a:r>
            <a:r>
              <a:rPr dirty="0"/>
              <a:t> 3D </a:t>
            </a:r>
            <a:r>
              <a:rPr dirty="0" err="1"/>
              <a:t>절곡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</a:t>
            </a:r>
            <a:r>
              <a:rPr dirty="0" err="1"/>
              <a:t>렌더링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TRACK 02 : STAMP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사이보그 볼트 도장 3D 모델링 (v13)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기계식</a:t>
            </a:r>
            <a:r>
              <a:rPr dirty="0"/>
              <a:t> </a:t>
            </a:r>
            <a:r>
              <a:rPr dirty="0" err="1"/>
              <a:t>볼트</a:t>
            </a:r>
            <a:r>
              <a:rPr dirty="0"/>
              <a:t> </a:t>
            </a:r>
            <a:r>
              <a:rPr dirty="0" err="1"/>
              <a:t>헤드</a:t>
            </a:r>
            <a:r>
              <a:rPr dirty="0"/>
              <a:t> </a:t>
            </a:r>
            <a:r>
              <a:rPr dirty="0" err="1"/>
              <a:t>형태와</a:t>
            </a:r>
            <a:r>
              <a:rPr dirty="0"/>
              <a:t> </a:t>
            </a:r>
            <a:r>
              <a:rPr dirty="0" err="1"/>
              <a:t>사이보그</a:t>
            </a:r>
            <a:r>
              <a:rPr dirty="0"/>
              <a:t> </a:t>
            </a:r>
            <a:r>
              <a:rPr dirty="0" err="1"/>
              <a:t>아트</a:t>
            </a:r>
            <a:r>
              <a:rPr dirty="0"/>
              <a:t> </a:t>
            </a:r>
            <a:r>
              <a:rPr dirty="0" err="1"/>
              <a:t>그래픽을</a:t>
            </a:r>
            <a:r>
              <a:rPr dirty="0"/>
              <a:t> </a:t>
            </a:r>
            <a:r>
              <a:rPr dirty="0" err="1"/>
              <a:t>결합한</a:t>
            </a:r>
            <a:r>
              <a:rPr dirty="0"/>
              <a:t> </a:t>
            </a:r>
            <a:r>
              <a:rPr dirty="0" err="1"/>
              <a:t>시그니처</a:t>
            </a:r>
            <a:r>
              <a:rPr dirty="0"/>
              <a:t> 3D </a:t>
            </a:r>
            <a:r>
              <a:rPr dirty="0" err="1"/>
              <a:t>도장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754880" cy="27622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볼트</a:t>
            </a:r>
            <a:r>
              <a:rPr dirty="0"/>
              <a:t> </a:t>
            </a:r>
            <a:r>
              <a:rPr dirty="0" err="1"/>
              <a:t>헤드</a:t>
            </a:r>
            <a:r>
              <a:rPr dirty="0"/>
              <a:t> </a:t>
            </a:r>
            <a:r>
              <a:rPr dirty="0" err="1"/>
              <a:t>메커니즘</a:t>
            </a:r>
            <a:r>
              <a:rPr dirty="0"/>
              <a:t> + </a:t>
            </a:r>
            <a:r>
              <a:rPr dirty="0" err="1"/>
              <a:t>사이보그</a:t>
            </a:r>
            <a:r>
              <a:rPr dirty="0"/>
              <a:t> </a:t>
            </a:r>
            <a:r>
              <a:rPr dirty="0" err="1"/>
              <a:t>아트</a:t>
            </a:r>
            <a:endParaRPr dirty="0"/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기계식</a:t>
            </a:r>
            <a:r>
              <a:rPr dirty="0"/>
              <a:t> </a:t>
            </a:r>
            <a:r>
              <a:rPr dirty="0" err="1"/>
              <a:t>볼트</a:t>
            </a:r>
            <a:r>
              <a:rPr dirty="0"/>
              <a:t> </a:t>
            </a:r>
            <a:r>
              <a:rPr dirty="0" err="1"/>
              <a:t>헤드의</a:t>
            </a:r>
            <a:r>
              <a:rPr dirty="0"/>
              <a:t> </a:t>
            </a:r>
            <a:r>
              <a:rPr dirty="0" err="1"/>
              <a:t>외형에</a:t>
            </a:r>
            <a:r>
              <a:rPr dirty="0"/>
              <a:t> </a:t>
            </a:r>
            <a:r>
              <a:rPr dirty="0" err="1"/>
              <a:t>사이보그</a:t>
            </a:r>
            <a:r>
              <a:rPr dirty="0"/>
              <a:t> </a:t>
            </a:r>
            <a:r>
              <a:rPr dirty="0" err="1"/>
              <a:t>페이스</a:t>
            </a:r>
            <a:r>
              <a:rPr dirty="0"/>
              <a:t> </a:t>
            </a:r>
            <a:r>
              <a:rPr dirty="0" err="1"/>
              <a:t>그래픽을</a:t>
            </a:r>
            <a:r>
              <a:rPr dirty="0"/>
              <a:t> </a:t>
            </a:r>
            <a:r>
              <a:rPr dirty="0" err="1"/>
              <a:t>음각</a:t>
            </a:r>
            <a:r>
              <a:rPr dirty="0"/>
              <a:t>/</a:t>
            </a:r>
            <a:r>
              <a:rPr dirty="0" err="1"/>
              <a:t>양각으로</a:t>
            </a:r>
            <a:r>
              <a:rPr dirty="0"/>
              <a:t> </a:t>
            </a:r>
            <a:r>
              <a:rPr dirty="0" err="1"/>
              <a:t>조화롭게</a:t>
            </a:r>
            <a:r>
              <a:rPr dirty="0"/>
              <a:t> </a:t>
            </a:r>
            <a:r>
              <a:rPr dirty="0" err="1"/>
              <a:t>융합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D30mm &amp; D40mm </a:t>
            </a:r>
            <a:r>
              <a:rPr dirty="0" err="1"/>
              <a:t>이원화</a:t>
            </a:r>
            <a:r>
              <a:rPr dirty="0"/>
              <a:t> </a:t>
            </a:r>
            <a:r>
              <a:rPr dirty="0" err="1"/>
              <a:t>규격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휴대</a:t>
            </a:r>
            <a:r>
              <a:rPr dirty="0"/>
              <a:t> 및 </a:t>
            </a:r>
            <a:r>
              <a:rPr dirty="0" err="1"/>
              <a:t>서명용</a:t>
            </a:r>
            <a:r>
              <a:rPr dirty="0"/>
              <a:t> </a:t>
            </a:r>
            <a:r>
              <a:rPr dirty="0" err="1"/>
              <a:t>소형</a:t>
            </a:r>
            <a:r>
              <a:rPr dirty="0"/>
              <a:t> D30mm </a:t>
            </a:r>
            <a:r>
              <a:rPr dirty="0" err="1"/>
              <a:t>규격과</a:t>
            </a:r>
            <a:r>
              <a:rPr dirty="0"/>
              <a:t> </a:t>
            </a:r>
            <a:r>
              <a:rPr dirty="0" err="1"/>
              <a:t>전시</a:t>
            </a:r>
            <a:r>
              <a:rPr dirty="0"/>
              <a:t> 및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날인용</a:t>
            </a:r>
            <a:r>
              <a:rPr dirty="0"/>
              <a:t> </a:t>
            </a:r>
            <a:r>
              <a:rPr dirty="0" err="1"/>
              <a:t>대형</a:t>
            </a:r>
            <a:r>
              <a:rPr dirty="0"/>
              <a:t> D40mm </a:t>
            </a:r>
            <a:r>
              <a:rPr dirty="0" err="1"/>
              <a:t>규격</a:t>
            </a:r>
            <a:r>
              <a:rPr dirty="0"/>
              <a:t> 2종 </a:t>
            </a:r>
            <a:r>
              <a:rPr dirty="0" err="1"/>
              <a:t>파라메트릭</a:t>
            </a:r>
            <a:r>
              <a:rPr dirty="0"/>
              <a:t> </a:t>
            </a:r>
            <a:r>
              <a:rPr dirty="0" err="1"/>
              <a:t>완성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일체형</a:t>
            </a:r>
            <a:r>
              <a:rPr dirty="0"/>
              <a:t> </a:t>
            </a:r>
            <a:r>
              <a:rPr dirty="0" err="1"/>
              <a:t>키링</a:t>
            </a:r>
            <a:r>
              <a:rPr dirty="0"/>
              <a:t>/</a:t>
            </a:r>
            <a:r>
              <a:rPr dirty="0" err="1"/>
              <a:t>스트랩</a:t>
            </a:r>
            <a:r>
              <a:rPr dirty="0"/>
              <a:t> </a:t>
            </a:r>
            <a:r>
              <a:rPr dirty="0" err="1"/>
              <a:t>루프</a:t>
            </a:r>
            <a:r>
              <a:rPr dirty="0"/>
              <a:t>(Loop)</a:t>
            </a:r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도장</a:t>
            </a:r>
            <a:r>
              <a:rPr dirty="0"/>
              <a:t> </a:t>
            </a:r>
            <a:r>
              <a:rPr dirty="0" err="1"/>
              <a:t>상단에</a:t>
            </a:r>
            <a:r>
              <a:rPr dirty="0"/>
              <a:t> </a:t>
            </a:r>
            <a:r>
              <a:rPr dirty="0" err="1"/>
              <a:t>키링</a:t>
            </a:r>
            <a:r>
              <a:rPr dirty="0"/>
              <a:t>/</a:t>
            </a:r>
            <a:r>
              <a:rPr dirty="0" err="1"/>
              <a:t>스트랩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 </a:t>
            </a:r>
            <a:r>
              <a:rPr dirty="0" err="1"/>
              <a:t>고리를</a:t>
            </a:r>
            <a:r>
              <a:rPr dirty="0"/>
              <a:t> </a:t>
            </a:r>
            <a:r>
              <a:rPr dirty="0" err="1"/>
              <a:t>솔리드로</a:t>
            </a:r>
            <a:r>
              <a:rPr dirty="0"/>
              <a:t> </a:t>
            </a:r>
            <a:r>
              <a:rPr dirty="0" err="1"/>
              <a:t>일체</a:t>
            </a:r>
            <a:r>
              <a:rPr dirty="0"/>
              <a:t> </a:t>
            </a:r>
            <a:r>
              <a:rPr dirty="0" err="1"/>
              <a:t>설계하여</a:t>
            </a:r>
            <a:r>
              <a:rPr dirty="0"/>
              <a:t> </a:t>
            </a:r>
            <a:r>
              <a:rPr dirty="0" err="1"/>
              <a:t>분실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및 </a:t>
            </a:r>
            <a:r>
              <a:rPr dirty="0" err="1"/>
              <a:t>휴대성</a:t>
            </a:r>
            <a:r>
              <a:rPr dirty="0"/>
              <a:t> </a:t>
            </a:r>
            <a:r>
              <a:rPr dirty="0" err="1"/>
              <a:t>극대화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olt_Stamp_3D_Preview_D40mm_v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49" y="1810512"/>
            <a:ext cx="4097396" cy="415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1072" y="6053328"/>
            <a:ext cx="509595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Bolt Stamp D40mm v13 3D 프리뷰 (키링 루프 &amp; 널링 바디)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TRACK 02 :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0.2mm 정밀 노즐 3D 프린팅 최적화 &amp; 단면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미세 음각 선폭 보강, 챔퍼링 및 CAD 단면 강도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754880" cy="27622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0.2mm </a:t>
            </a:r>
            <a:r>
              <a:rPr dirty="0" err="1"/>
              <a:t>초정밀</a:t>
            </a:r>
            <a:r>
              <a:rPr dirty="0"/>
              <a:t> </a:t>
            </a:r>
            <a:r>
              <a:rPr dirty="0" err="1"/>
              <a:t>노즐</a:t>
            </a:r>
            <a:r>
              <a:rPr dirty="0"/>
              <a:t> </a:t>
            </a:r>
            <a:r>
              <a:rPr dirty="0" err="1"/>
              <a:t>압출비</a:t>
            </a:r>
            <a:r>
              <a:rPr dirty="0"/>
              <a:t>(1:1.2) </a:t>
            </a:r>
            <a:r>
              <a:rPr dirty="0" err="1"/>
              <a:t>최적화</a:t>
            </a:r>
            <a:endParaRPr dirty="0"/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초미세</a:t>
            </a:r>
            <a:r>
              <a:rPr dirty="0"/>
              <a:t> </a:t>
            </a:r>
            <a:r>
              <a:rPr dirty="0" err="1"/>
              <a:t>선폭</a:t>
            </a:r>
            <a:r>
              <a:rPr dirty="0"/>
              <a:t> </a:t>
            </a:r>
            <a:r>
              <a:rPr dirty="0" err="1"/>
              <a:t>분해능에</a:t>
            </a:r>
            <a:r>
              <a:rPr dirty="0"/>
              <a:t> </a:t>
            </a:r>
            <a:r>
              <a:rPr dirty="0" err="1"/>
              <a:t>맞춰</a:t>
            </a:r>
            <a:r>
              <a:rPr dirty="0"/>
              <a:t> </a:t>
            </a:r>
            <a:r>
              <a:rPr dirty="0" err="1"/>
              <a:t>음각</a:t>
            </a:r>
            <a:r>
              <a:rPr dirty="0"/>
              <a:t> </a:t>
            </a:r>
            <a:r>
              <a:rPr dirty="0" err="1"/>
              <a:t>라인</a:t>
            </a:r>
            <a:r>
              <a:rPr dirty="0"/>
              <a:t> </a:t>
            </a:r>
            <a:r>
              <a:rPr dirty="0" err="1"/>
              <a:t>폭과</a:t>
            </a:r>
            <a:r>
              <a:rPr dirty="0"/>
              <a:t> </a:t>
            </a:r>
            <a:r>
              <a:rPr dirty="0" err="1"/>
              <a:t>깊이비를</a:t>
            </a:r>
            <a:r>
              <a:rPr dirty="0"/>
              <a:t> 1:1.2 </a:t>
            </a:r>
            <a:r>
              <a:rPr dirty="0" err="1"/>
              <a:t>최적</a:t>
            </a:r>
            <a:r>
              <a:rPr dirty="0"/>
              <a:t> </a:t>
            </a:r>
            <a:r>
              <a:rPr dirty="0" err="1"/>
              <a:t>비율로</a:t>
            </a:r>
            <a:r>
              <a:rPr dirty="0"/>
              <a:t>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재설계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선폭</a:t>
            </a:r>
            <a:r>
              <a:rPr dirty="0"/>
              <a:t> </a:t>
            </a:r>
            <a:r>
              <a:rPr dirty="0" err="1"/>
              <a:t>보강</a:t>
            </a:r>
            <a:r>
              <a:rPr dirty="0"/>
              <a:t> (0.35mm ~ 0.5mm)</a:t>
            </a:r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도장</a:t>
            </a:r>
            <a:r>
              <a:rPr dirty="0"/>
              <a:t> </a:t>
            </a:r>
            <a:r>
              <a:rPr dirty="0" err="1"/>
              <a:t>날인</a:t>
            </a:r>
            <a:r>
              <a:rPr dirty="0"/>
              <a:t> 시 </a:t>
            </a:r>
            <a:r>
              <a:rPr dirty="0" err="1"/>
              <a:t>얇은</a:t>
            </a:r>
            <a:r>
              <a:rPr dirty="0"/>
              <a:t> </a:t>
            </a:r>
            <a:r>
              <a:rPr dirty="0" err="1"/>
              <a:t>벽면이</a:t>
            </a:r>
            <a:r>
              <a:rPr dirty="0"/>
              <a:t> </a:t>
            </a:r>
            <a:r>
              <a:rPr dirty="0" err="1"/>
              <a:t>뭉개지거나</a:t>
            </a:r>
            <a:r>
              <a:rPr dirty="0"/>
              <a:t> </a:t>
            </a:r>
            <a:r>
              <a:rPr dirty="0" err="1"/>
              <a:t>파손되지</a:t>
            </a:r>
            <a:r>
              <a:rPr dirty="0"/>
              <a:t> </a:t>
            </a:r>
            <a:r>
              <a:rPr dirty="0" err="1"/>
              <a:t>않도록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선폭을</a:t>
            </a:r>
            <a:r>
              <a:rPr dirty="0"/>
              <a:t> 0.35mm </a:t>
            </a:r>
            <a:r>
              <a:rPr dirty="0" err="1"/>
              <a:t>이상으로</a:t>
            </a:r>
            <a:r>
              <a:rPr dirty="0"/>
              <a:t>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보강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탈형</a:t>
            </a:r>
            <a:r>
              <a:rPr dirty="0"/>
              <a:t> </a:t>
            </a:r>
            <a:r>
              <a:rPr dirty="0" err="1"/>
              <a:t>경사각</a:t>
            </a:r>
            <a:r>
              <a:rPr dirty="0"/>
              <a:t>(Draft Angle) &amp; 0.2mm </a:t>
            </a:r>
            <a:r>
              <a:rPr dirty="0" err="1"/>
              <a:t>챔퍼</a:t>
            </a:r>
            <a:endParaRPr dirty="0"/>
          </a:p>
          <a:p>
            <a:pPr>
              <a:spcAft>
                <a:spcPts val="15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날인</a:t>
            </a:r>
            <a:r>
              <a:rPr dirty="0"/>
              <a:t> 후 </a:t>
            </a:r>
            <a:r>
              <a:rPr dirty="0" err="1"/>
              <a:t>잉크</a:t>
            </a:r>
            <a:r>
              <a:rPr dirty="0"/>
              <a:t>/</a:t>
            </a:r>
            <a:r>
              <a:rPr dirty="0" err="1"/>
              <a:t>점토가</a:t>
            </a:r>
            <a:r>
              <a:rPr dirty="0"/>
              <a:t> </a:t>
            </a:r>
            <a:r>
              <a:rPr dirty="0" err="1"/>
              <a:t>도장</a:t>
            </a:r>
            <a:r>
              <a:rPr dirty="0"/>
              <a:t> </a:t>
            </a:r>
            <a:r>
              <a:rPr dirty="0" err="1"/>
              <a:t>틈새에</a:t>
            </a:r>
            <a:r>
              <a:rPr dirty="0"/>
              <a:t> </a:t>
            </a:r>
            <a:r>
              <a:rPr dirty="0" err="1"/>
              <a:t>끼지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깨끗하게</a:t>
            </a:r>
            <a:r>
              <a:rPr dirty="0"/>
              <a:t> </a:t>
            </a:r>
            <a:r>
              <a:rPr dirty="0" err="1"/>
              <a:t>떨어지도록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음각</a:t>
            </a:r>
            <a:r>
              <a:rPr dirty="0"/>
              <a:t> </a:t>
            </a:r>
            <a:r>
              <a:rPr dirty="0" err="1"/>
              <a:t>벽면에</a:t>
            </a:r>
            <a:r>
              <a:rPr dirty="0"/>
              <a:t> </a:t>
            </a:r>
            <a:r>
              <a:rPr dirty="0" err="1"/>
              <a:t>모따기</a:t>
            </a:r>
            <a:r>
              <a:rPr dirty="0"/>
              <a:t> </a:t>
            </a:r>
            <a:r>
              <a:rPr dirty="0" err="1"/>
              <a:t>적용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olt_Stamp_D40mm_v13_stamp_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916734"/>
            <a:ext cx="5095951" cy="1698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1072" y="3813048"/>
            <a:ext cx="509595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CAD 정밀 단면 해석 (음각 깊이 &amp; 솔리드 충진도)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51960"/>
            <a:ext cx="52422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yborg_stamp_design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659" y="4325112"/>
            <a:ext cx="1636776" cy="1636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1072" y="6053328"/>
            <a:ext cx="509595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사이보그 도장 원본 벡터 그래픽 디자인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TRACK 03 : HAND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로봇 핸드 10 서보 모터 제어 시스템 (button_10_servos.ino)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10개 푸시 버튼과 10개 서보 모터 1:1 매칭, 내부 풀업 배선 및 논블로킹 가감속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2787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■ 10버튼 - 10서보 1:1 </a:t>
            </a:r>
            <a:r>
              <a:rPr dirty="0" err="1"/>
              <a:t>완벽</a:t>
            </a:r>
            <a:r>
              <a:rPr dirty="0"/>
              <a:t> </a:t>
            </a:r>
            <a:r>
              <a:rPr dirty="0" err="1"/>
              <a:t>독립</a:t>
            </a:r>
            <a:r>
              <a:rPr dirty="0"/>
              <a:t> </a:t>
            </a:r>
            <a:r>
              <a:rPr dirty="0" err="1"/>
              <a:t>매핑</a:t>
            </a:r>
            <a:endParaRPr dirty="0"/>
          </a:p>
          <a:p>
            <a:pPr>
              <a:spcAft>
                <a:spcPts val="16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왼손</a:t>
            </a:r>
            <a:r>
              <a:rPr dirty="0"/>
              <a:t> 5개(A0~A11 → D2~D6), </a:t>
            </a:r>
            <a:r>
              <a:rPr dirty="0" err="1"/>
              <a:t>오른손</a:t>
            </a:r>
            <a:r>
              <a:rPr dirty="0"/>
              <a:t> 5개(A5~A9 → D7~D11)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손가락</a:t>
            </a:r>
            <a:r>
              <a:rPr dirty="0"/>
              <a:t> </a:t>
            </a:r>
            <a:r>
              <a:rPr dirty="0" err="1"/>
              <a:t>완전</a:t>
            </a:r>
            <a:r>
              <a:rPr dirty="0"/>
              <a:t> </a:t>
            </a:r>
            <a:r>
              <a:rPr dirty="0" err="1"/>
              <a:t>독립</a:t>
            </a:r>
            <a:r>
              <a:rPr dirty="0"/>
              <a:t> </a:t>
            </a:r>
            <a:r>
              <a:rPr dirty="0" err="1"/>
              <a:t>구동</a:t>
            </a:r>
            <a:endParaRPr dirty="0"/>
          </a:p>
          <a:p>
            <a:pPr>
              <a:spcAft>
                <a:spcPts val="300"/>
              </a:spcAft>
              <a:defRPr sz="18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풀업</a:t>
            </a:r>
            <a:r>
              <a:rPr dirty="0"/>
              <a:t> (INPUT_PULLUP) </a:t>
            </a:r>
            <a:r>
              <a:rPr dirty="0" err="1"/>
              <a:t>직결</a:t>
            </a:r>
            <a:r>
              <a:rPr dirty="0"/>
              <a:t> </a:t>
            </a:r>
            <a:r>
              <a:rPr dirty="0" err="1"/>
              <a:t>배선</a:t>
            </a:r>
            <a:endParaRPr dirty="0"/>
          </a:p>
          <a:p>
            <a:pPr>
              <a:spcAft>
                <a:spcPts val="16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외장</a:t>
            </a:r>
            <a:r>
              <a:rPr dirty="0"/>
              <a:t> </a:t>
            </a:r>
            <a:r>
              <a:rPr dirty="0" err="1"/>
              <a:t>저항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버튼의</a:t>
            </a:r>
            <a:r>
              <a:rPr dirty="0"/>
              <a:t> </a:t>
            </a:r>
            <a:r>
              <a:rPr dirty="0" err="1"/>
              <a:t>한쪽은</a:t>
            </a:r>
            <a:r>
              <a:rPr dirty="0"/>
              <a:t> </a:t>
            </a:r>
            <a:r>
              <a:rPr dirty="0" err="1"/>
              <a:t>아두이노</a:t>
            </a:r>
            <a:r>
              <a:rPr dirty="0"/>
              <a:t> 핀,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쪽은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GND에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 (</a:t>
            </a:r>
            <a:r>
              <a:rPr dirty="0" err="1"/>
              <a:t>누르면</a:t>
            </a:r>
            <a:r>
              <a:rPr dirty="0"/>
              <a:t> LOW, </a:t>
            </a:r>
            <a:r>
              <a:rPr dirty="0" err="1"/>
              <a:t>떼면</a:t>
            </a:r>
            <a:r>
              <a:rPr dirty="0"/>
              <a:t> HIGH)</a:t>
            </a:r>
          </a:p>
          <a:p>
            <a:pPr>
              <a:spcAft>
                <a:spcPts val="300"/>
              </a:spcAft>
              <a:defRPr sz="18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■ 15ms </a:t>
            </a:r>
            <a:r>
              <a:rPr dirty="0" err="1"/>
              <a:t>논블로킹</a:t>
            </a:r>
            <a:r>
              <a:rPr dirty="0"/>
              <a:t> </a:t>
            </a:r>
            <a:r>
              <a:rPr dirty="0" err="1"/>
              <a:t>타이머</a:t>
            </a:r>
            <a:r>
              <a:rPr dirty="0"/>
              <a:t> </a:t>
            </a:r>
            <a:r>
              <a:rPr dirty="0" err="1"/>
              <a:t>각도</a:t>
            </a:r>
            <a:r>
              <a:rPr dirty="0"/>
              <a:t> </a:t>
            </a:r>
            <a:r>
              <a:rPr dirty="0" err="1"/>
              <a:t>스무딩</a:t>
            </a:r>
            <a:endParaRPr dirty="0"/>
          </a:p>
          <a:p>
            <a:pPr>
              <a:spcAft>
                <a:spcPts val="16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/>
              <a:t>1도씩 </a:t>
            </a:r>
            <a:r>
              <a:rPr dirty="0" err="1"/>
              <a:t>부드럽게</a:t>
            </a:r>
            <a:r>
              <a:rPr dirty="0"/>
              <a:t> </a:t>
            </a:r>
            <a:r>
              <a:rPr dirty="0" err="1"/>
              <a:t>가감속</a:t>
            </a:r>
            <a:r>
              <a:rPr dirty="0"/>
              <a:t> </a:t>
            </a:r>
            <a:r>
              <a:rPr dirty="0" err="1"/>
              <a:t>추종하여</a:t>
            </a:r>
            <a:r>
              <a:rPr dirty="0"/>
              <a:t> </a:t>
            </a:r>
            <a:r>
              <a:rPr dirty="0" err="1"/>
              <a:t>모터의</a:t>
            </a:r>
            <a:r>
              <a:rPr dirty="0"/>
              <a:t> </a:t>
            </a:r>
            <a:r>
              <a:rPr dirty="0" err="1"/>
              <a:t>튕김</a:t>
            </a:r>
            <a:r>
              <a:rPr dirty="0"/>
              <a:t> 및 </a:t>
            </a:r>
            <a:r>
              <a:rPr dirty="0" err="1"/>
              <a:t>과부하를</a:t>
            </a:r>
            <a:r>
              <a:rPr dirty="0"/>
              <a:t> </a:t>
            </a:r>
            <a:r>
              <a:rPr dirty="0" err="1"/>
              <a:t>방지하고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자연스러운</a:t>
            </a:r>
            <a:r>
              <a:rPr dirty="0"/>
              <a:t> </a:t>
            </a:r>
            <a:r>
              <a:rPr dirty="0" err="1"/>
              <a:t>모션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5937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[하드웨어 핀맵 &amp; 각도 설정값]</a:t>
            </a:r>
          </a:p>
          <a:p>
            <a:pPr>
              <a:spcAft>
                <a:spcPts val="300"/>
              </a:spcAft>
              <a:defRPr sz="1650" b="1">
                <a:solidFill>
                  <a:srgbClr val="2563EB"/>
                </a:solidFill>
                <a:latin typeface="Malgun Gothic"/>
              </a:defRPr>
            </a:pPr>
            <a:r>
              <a:t>▶ 왼손 5개 손가락 (SG1 ~ SG5)</a:t>
            </a:r>
          </a:p>
          <a:p>
            <a:pPr>
              <a:spcAft>
                <a:spcPts val="1400"/>
              </a:spcAft>
              <a:defRPr sz="1450">
                <a:solidFill>
                  <a:srgbClr val="1E293B"/>
                </a:solidFill>
                <a:latin typeface="Malgun Gothic"/>
              </a:defRPr>
            </a:pPr>
            <a:r>
              <a:t>• 버튼 입력: A0, A3, A4, A10, A11</a:t>
            </a:r>
            <a:br/>
            <a:r>
              <a:t>• 서보 PWM: D2, D3, D4, D5, D6</a:t>
            </a:r>
            <a:br/>
            <a:r>
              <a:t>• 펴짐 각도: 0°  /  쥠 각도: 150° (소지 180°)</a:t>
            </a:r>
          </a:p>
          <a:p>
            <a:pPr>
              <a:spcAft>
                <a:spcPts val="300"/>
              </a:spcAft>
              <a:defRPr sz="1650" b="1">
                <a:solidFill>
                  <a:srgbClr val="2563EB"/>
                </a:solidFill>
                <a:latin typeface="Malgun Gothic"/>
              </a:defRPr>
            </a:pPr>
            <a:r>
              <a:t>▶ 오른손 5개 손가락 (SD1 ~ SD5)</a:t>
            </a:r>
          </a:p>
          <a:p>
            <a:pPr>
              <a:spcAft>
                <a:spcPts val="1400"/>
              </a:spcAft>
              <a:defRPr sz="1450">
                <a:solidFill>
                  <a:srgbClr val="1E293B"/>
                </a:solidFill>
                <a:latin typeface="Malgun Gothic"/>
              </a:defRPr>
            </a:pPr>
            <a:r>
              <a:t>• 버튼 입력: A5, A6, A7, A8, A9</a:t>
            </a:r>
            <a:br/>
            <a:r>
              <a:t>• 서보 PWM: D7, D8, D9, D10, D11</a:t>
            </a:r>
            <a:br/>
            <a:r>
              <a:t>• 펴짐 각도: 100°~120°  /  쥠 각도: 0°</a:t>
            </a:r>
          </a:p>
          <a:p>
            <a:pPr>
              <a:spcAft>
                <a:spcPts val="300"/>
              </a:spcAft>
              <a:defRPr sz="1650" b="1">
                <a:solidFill>
                  <a:srgbClr val="2563EB"/>
                </a:solidFill>
                <a:latin typeface="Malgun Gothic"/>
              </a:defRPr>
            </a:pPr>
            <a:r>
              <a:t>▶ 전원 및 안전 제어부</a:t>
            </a:r>
          </a:p>
          <a:p>
            <a:pPr>
              <a:spcAft>
                <a:spcPts val="1400"/>
              </a:spcAft>
              <a:defRPr sz="1450">
                <a:solidFill>
                  <a:srgbClr val="1E293B"/>
                </a:solidFill>
                <a:latin typeface="Malgun Gothic"/>
              </a:defRPr>
            </a:pPr>
            <a:r>
              <a:t>• 전원 릴레이 제어: 디지털 12번 핀</a:t>
            </a:r>
            <a:br/>
            <a:r>
              <a:t>• 외부 전원: DC 5V 5A~10A 독립 공급</a:t>
            </a:r>
            <a:br/>
            <a:r>
              <a:t>• 동작 모드: MODE 1 (즉각 반응) / MODE 2 (토글)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CIRCUIT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10-Servo &amp; 10-Button Controller 회로도 (Schematic)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59497"/>
            <a:ext cx="10728655" cy="52870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ircuit_schematic_button_10_ser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322" y="1187688"/>
            <a:ext cx="8188875" cy="4856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6099048"/>
            <a:ext cx="10582351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아두이노 메가 2560 - 10개 버튼(내부풀업) - 10개 서보 - 릴레이(D12) - 외장 5V 10A 전원 통합 회로도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MILESTONES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algun Gothic"/>
              </a:defRPr>
            </a:pPr>
            <a:r>
              <a:t>핵심 성과 요약 및 향후 제작·조립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버튼 케이스, 볼트 도장, 로봇 핸드 제어기 제작 현황 및 향후 실행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80015" cy="3559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항목별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 및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추진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  <a:p>
            <a:pPr>
              <a:defRPr sz="18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■ 01. 10키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케이스</a:t>
            </a:r>
            <a:r>
              <a:rPr dirty="0"/>
              <a:t> : 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[</a:t>
            </a:r>
            <a:r>
              <a:rPr sz="1700" b="1" dirty="0" err="1">
                <a:solidFill>
                  <a:srgbClr val="10B981"/>
                </a:solidFill>
                <a:latin typeface="Malgun Gothic"/>
              </a:rPr>
              <a:t>설계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0B981"/>
                </a:solidFill>
                <a:latin typeface="Malgun Gothic"/>
              </a:rPr>
              <a:t>완료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 (100%)]
</a:t>
            </a:r>
          </a:p>
          <a:p>
            <a:pPr>
              <a:spcAft>
                <a:spcPts val="18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/>
              <a:t>   •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</a:t>
            </a:r>
            <a:r>
              <a:rPr lang="en-US" dirty="0" err="1"/>
              <a:t>freecad</a:t>
            </a:r>
            <a:r>
              <a:rPr dirty="0" err="1"/>
              <a:t>모델링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, </a:t>
            </a:r>
            <a:r>
              <a:rPr dirty="0" err="1"/>
              <a:t>판금</a:t>
            </a:r>
            <a:r>
              <a:rPr dirty="0"/>
              <a:t> </a:t>
            </a:r>
            <a:r>
              <a:rPr dirty="0" err="1"/>
              <a:t>전개도</a:t>
            </a:r>
            <a:r>
              <a:rPr dirty="0"/>
              <a:t>(DXF) 및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완료</a:t>
            </a:r>
            <a:endParaRPr lang="ko-KR" altLang="en-US" dirty="0"/>
          </a:p>
          <a:p>
            <a:pPr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rPr lang="ko-KR" altLang="en-US" dirty="0"/>
              <a:t>■ </a:t>
            </a:r>
            <a:r>
              <a:rPr lang="en-US" altLang="ko-KR" dirty="0"/>
              <a:t>02. </a:t>
            </a:r>
            <a:r>
              <a:rPr lang="ko-KR" altLang="en-US" dirty="0"/>
              <a:t>사이보그 볼트 도장 </a:t>
            </a:r>
            <a:r>
              <a:rPr lang="en-US" altLang="ko-KR" dirty="0"/>
              <a:t>: </a:t>
            </a:r>
            <a:r>
              <a:rPr lang="en-US" altLang="ko-KR" sz="1700" b="1" dirty="0">
                <a:solidFill>
                  <a:srgbClr val="10B981"/>
                </a:solidFill>
                <a:latin typeface="Malgun Gothic"/>
              </a:rPr>
              <a:t>[</a:t>
            </a:r>
            <a:r>
              <a:rPr lang="ko-KR" altLang="en-US" sz="1700" b="1" dirty="0">
                <a:solidFill>
                  <a:srgbClr val="10B981"/>
                </a:solidFill>
                <a:latin typeface="Malgun Gothic"/>
              </a:rPr>
              <a:t>설계 완료 </a:t>
            </a:r>
            <a:r>
              <a:rPr lang="en-US" altLang="ko-KR" sz="1700" b="1" dirty="0">
                <a:solidFill>
                  <a:srgbClr val="10B981"/>
                </a:solidFill>
                <a:latin typeface="Malgun Gothic"/>
              </a:rPr>
              <a:t>(100%)]
</a:t>
            </a:r>
          </a:p>
          <a:p>
            <a:pPr>
              <a:spcAft>
                <a:spcPts val="18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/>
              <a:t>   •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D30/D40 v13 </a:t>
            </a:r>
            <a:r>
              <a:rPr dirty="0" err="1"/>
              <a:t>파라메트릭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, </a:t>
            </a:r>
            <a:r>
              <a:rPr dirty="0" err="1"/>
              <a:t>키링</a:t>
            </a:r>
            <a:r>
              <a:rPr dirty="0"/>
              <a:t> </a:t>
            </a:r>
            <a:r>
              <a:rPr dirty="0" err="1"/>
              <a:t>루프</a:t>
            </a:r>
            <a:r>
              <a:rPr dirty="0"/>
              <a:t> </a:t>
            </a:r>
            <a:r>
              <a:rPr dirty="0" err="1"/>
              <a:t>일체화</a:t>
            </a:r>
            <a:r>
              <a:rPr dirty="0"/>
              <a:t>, 0.2mm </a:t>
            </a:r>
            <a:r>
              <a:rPr dirty="0" err="1"/>
              <a:t>노즐</a:t>
            </a:r>
            <a:r>
              <a:rPr dirty="0"/>
              <a:t> </a:t>
            </a:r>
            <a:r>
              <a:rPr dirty="0" err="1"/>
              <a:t>최적화</a:t>
            </a:r>
            <a:endParaRPr dirty="0"/>
          </a:p>
          <a:p>
            <a:pPr>
              <a:defRPr sz="18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■ 03. 10채널 </a:t>
            </a:r>
            <a:r>
              <a:rPr dirty="0" err="1"/>
              <a:t>핸드</a:t>
            </a:r>
            <a:r>
              <a:rPr dirty="0"/>
              <a:t> </a:t>
            </a:r>
            <a:r>
              <a:rPr dirty="0" err="1"/>
              <a:t>제어기</a:t>
            </a:r>
            <a:r>
              <a:rPr dirty="0"/>
              <a:t> : 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[</a:t>
            </a:r>
            <a:r>
              <a:rPr sz="1700" b="1" dirty="0" err="1">
                <a:solidFill>
                  <a:srgbClr val="10B981"/>
                </a:solidFill>
                <a:latin typeface="Malgun Gothic"/>
              </a:rPr>
              <a:t>회로·코드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0B981"/>
                </a:solidFill>
                <a:latin typeface="Malgun Gothic"/>
              </a:rPr>
              <a:t>완료</a:t>
            </a:r>
            <a:r>
              <a:rPr sz="1700" b="1" dirty="0">
                <a:solidFill>
                  <a:srgbClr val="10B981"/>
                </a:solidFill>
                <a:latin typeface="Malgun Gothic"/>
              </a:rPr>
              <a:t> (100%)]
</a:t>
            </a:r>
          </a:p>
          <a:p>
            <a:pPr>
              <a:spcAft>
                <a:spcPts val="1800"/>
              </a:spcAft>
              <a:defRPr sz="1550">
                <a:solidFill>
                  <a:srgbClr val="1E293B"/>
                </a:solidFill>
                <a:latin typeface="Malgun Gothic"/>
              </a:defRPr>
            </a:pPr>
            <a:r>
              <a:rPr dirty="0"/>
              <a:t>   •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button_10_servos.ino </a:t>
            </a:r>
            <a:r>
              <a:rPr dirty="0" err="1"/>
              <a:t>완성</a:t>
            </a:r>
            <a:r>
              <a:rPr dirty="0"/>
              <a:t>, 10버튼-10서보 1:1 </a:t>
            </a:r>
            <a:r>
              <a:rPr dirty="0" err="1"/>
              <a:t>매칭</a:t>
            </a:r>
            <a:r>
              <a:rPr dirty="0"/>
              <a:t>, </a:t>
            </a:r>
            <a:r>
              <a:rPr dirty="0" err="1"/>
              <a:t>전원</a:t>
            </a:r>
            <a:r>
              <a:rPr dirty="0"/>
              <a:t> </a:t>
            </a:r>
            <a:r>
              <a:rPr dirty="0" err="1"/>
              <a:t>회로도</a:t>
            </a:r>
            <a:r>
              <a:rPr dirty="0"/>
              <a:t> </a:t>
            </a:r>
            <a:r>
              <a:rPr dirty="0" err="1"/>
              <a:t>수립</a:t>
            </a:r>
            <a:br>
              <a:rPr dirty="0"/>
            </a:br>
            <a:r>
              <a:t>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600" b="1">
                <a:solidFill>
                  <a:srgbClr val="0EA5E9"/>
                </a:solidFill>
                <a:latin typeface="Malgun Gothic"/>
              </a:defRPr>
            </a:pPr>
            <a:r>
              <a:rPr dirty="0"/>
              <a:t>MACHINE ART LAB </a:t>
            </a:r>
          </a:p>
          <a:p>
            <a:pPr algn="ctr">
              <a:spcAft>
                <a:spcPts val="1600"/>
              </a:spcAft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감사합니다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1062</Words>
  <Application>Microsoft Office PowerPoint</Application>
  <PresentationFormat>와이드스크린</PresentationFormat>
  <Paragraphs>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이재용/22000561</cp:lastModifiedBy>
  <cp:revision>13</cp:revision>
  <dcterms:created xsi:type="dcterms:W3CDTF">2013-01-27T09:14:16Z</dcterms:created>
  <dcterms:modified xsi:type="dcterms:W3CDTF">2026-09-22T13:20:50Z</dcterms:modified>
  <cp:category/>
</cp:coreProperties>
</file>